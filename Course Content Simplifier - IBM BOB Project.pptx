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90" r:id="rId2"/>
    <p:sldId id="291" r:id="rId3"/>
    <p:sldId id="292" r:id="rId4"/>
    <p:sldId id="310" r:id="rId5"/>
    <p:sldId id="313" r:id="rId6"/>
    <p:sldId id="314" r:id="rId7"/>
    <p:sldId id="315" r:id="rId8"/>
    <p:sldId id="317" r:id="rId9"/>
    <p:sldId id="320" r:id="rId10"/>
    <p:sldId id="319" r:id="rId11"/>
    <p:sldId id="323" r:id="rId12"/>
    <p:sldId id="324" r:id="rId13"/>
    <p:sldId id="325" r:id="rId14"/>
    <p:sldId id="318" r:id="rId15"/>
    <p:sldId id="321" r:id="rId16"/>
    <p:sldId id="316" r:id="rId17"/>
    <p:sldId id="300" r:id="rId18"/>
    <p:sldId id="322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07" r:id="rId28"/>
    <p:sldId id="335" r:id="rId29"/>
    <p:sldId id="30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94660"/>
  </p:normalViewPr>
  <p:slideViewPr>
    <p:cSldViewPr snapToGrid="0">
      <p:cViewPr varScale="1">
        <p:scale>
          <a:sx n="84" d="100"/>
          <a:sy n="84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CE0FFB0-1BEA-A671-7F25-9DACBFB2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C53016D-2DBE-FAEB-6F14-6BC6B029F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1A40B3D-5CD2-6200-B02E-FCA69AD67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3904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36582C6-C39A-3890-4A4A-F7C5D00C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44529C9-F2D7-14DF-11C8-440574494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660C52A-5828-41AA-B34B-6E560231B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465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69BD90C-E8B7-CFED-2327-659FF483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43BA21E-BD27-C826-F763-D2674A3A0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5282A66-BBEF-825F-FF87-84494C7AA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4283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CD9D2E-3957-B372-67C1-89E7D22F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DFF48AF-DD39-9579-8983-3C3604DF0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248DE24-F664-584A-56E5-073476B2C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6045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F79BC36-5B17-CD4F-3C8A-EE81AA43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1E0571E-172A-BCE4-6CF7-ADB0747B2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BE0E249-985F-213D-597B-556A0BF75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5662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408B522-6E42-5E0A-C7A6-BA63AFFD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E283713-BA52-81ED-D9A0-DBA8677F4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17EE867-D4E2-FA0E-09B6-2B77F4C32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5865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F333BE-05A9-C4F0-7CD0-5D14E38A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F934D93-254E-510E-C67E-4649C556C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7D70706-9610-F1D9-2E21-570DC2769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4547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63F32EE-5A0F-CAF2-BA20-D97205B9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5D3E061-4B3F-5765-8E50-B8FAAD1C7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3F6925E-367A-CF45-4A63-A0DADD06F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161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BD4F87A-9AC2-1D5A-35D5-2E44E081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7E689C4-F8CD-AF4B-83AC-80F9036D7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EFCA9DD-48BC-5BDB-C22B-9182C2020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5078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F7DA08-20D4-67DE-8CB6-C149B266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ABE070F-8212-012B-FB4B-D9A237BE1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625EF62-30E1-8096-A775-68E2AD4B6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122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3D7FE5E-75BE-6A5E-4E5B-F04974CB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B6C8EB5-C708-F19B-B0FE-F354815B44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7CF38C9-CFC1-3B5D-0F2A-0049A64E8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311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42FFCE9-13A8-5820-6CED-21E28CC7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726184D-C702-2B27-230B-484081039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7A70CE9-5D5D-4E66-B5C0-847841AF1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592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CC7EE30-BF94-739B-1440-420BFCFD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2CC4FF9-2780-176A-EC96-C2BD6AF86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CA9E1F5-9E37-BEB4-ADC4-61CF98849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436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F0CFD73-EC96-AD17-0D2B-451023F1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E3FEA48-C0E6-9C9E-E35E-EED39DA89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BE147FF-1E99-88BF-9441-0ED655CF6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580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B69A52D-A37F-E41C-60C7-B54203AC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C15592B-8846-D7F7-3D58-1308CE900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59D28A8-6CA0-6F2B-7A9A-329175F34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0216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A000A95-B876-0088-8E08-DF8947AD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9540AEA-88A9-4AB7-97ED-A2F1A59FE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0139371-7B36-7FE7-FD02-6A2A394EB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927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62CD31-9DCC-33A4-357A-CF456739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C7555C7-C6D9-0966-BDDF-66A9FCAFB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5E53328-DFCC-6E0F-3510-C841E51B4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162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FC40224-97E2-B48B-7CEE-49794356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25301B0-2438-0F80-A7EA-701A5D42D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C45FEBF-0643-4863-8398-C0D8B90AE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3813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E8C5665-AC0D-795D-7426-674B0A98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5C797A6-C985-7C4C-D1FA-97AE181DE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4A776BB-9F01-33FF-661C-B67EE1F1D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261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90D44A4-8140-E17E-D994-5CDC65F9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4AC83F4-CA25-EA1F-0604-B920F1AB4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63E9563-53A2-98DE-F14A-71D4EF77D7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82128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F32DA02-5E3E-2AFC-4EEE-D87C32AA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9D8CA7C-2D36-693F-0B7F-DE021A9EB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ED037F3-3FC7-AB63-EF4E-B49B2C625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648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6B047A-9FC6-DB94-1056-E27038B2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EFDDF40-EFBB-36A3-D6EF-94011D8A8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AFC6266-9CE8-918F-D511-0BDB34FFB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643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Rifacspu2004/IBM-bob---Course-Content-Simplifier-Project-.-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972139885"/>
              </p:ext>
            </p:extLst>
          </p:nvPr>
        </p:nvGraphicFramePr>
        <p:xfrm>
          <a:off x="1102322" y="2600315"/>
          <a:ext cx="10603706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45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6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 </a:t>
                      </a:r>
                      <a:r>
                        <a:rPr lang="en-US" sz="2000" b="1" dirty="0"/>
                        <a:t>Mohamed </a:t>
                      </a:r>
                      <a:r>
                        <a:rPr lang="en-US" sz="2000" b="1" dirty="0" err="1"/>
                        <a:t>Rifath</a:t>
                      </a:r>
                      <a:r>
                        <a:rPr lang="en-US" sz="2000" b="1" dirty="0"/>
                        <a:t> 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</a:t>
                      </a:r>
                      <a:r>
                        <a:rPr lang="en-US" sz="1800" b="1" dirty="0"/>
                        <a:t>mdrifath932@gmail.com</a:t>
                      </a:r>
                      <a:endParaRPr sz="18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                  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       </a:t>
                      </a:r>
                      <a:r>
                        <a:rPr lang="en-US" sz="1800" b="1" dirty="0"/>
                        <a:t>9360458861</a:t>
                      </a:r>
                      <a:endParaRPr sz="18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Domain of  Project </a:t>
            </a:r>
            <a:r>
              <a:rPr lang="en-US" sz="2400" b="1" dirty="0"/>
              <a:t>–  </a:t>
            </a:r>
            <a:r>
              <a:rPr lang="en-IN" sz="2400" b="1" dirty="0"/>
              <a:t>Education </a:t>
            </a:r>
          </a:p>
          <a:p>
            <a:endParaRPr lang="en-IN" sz="2400" b="1" dirty="0">
              <a:highlight>
                <a:srgbClr val="FFFF00"/>
              </a:highlight>
            </a:endParaRPr>
          </a:p>
          <a:p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</a:t>
            </a:r>
            <a:r>
              <a:rPr lang="en-US" sz="2400" b="1" dirty="0"/>
              <a:t>–  </a:t>
            </a:r>
            <a:r>
              <a:rPr lang="en-IN" sz="2400" b="1" dirty="0"/>
              <a:t>COURSE CONTENT SIMPLIFICATION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91F2D-75D9-EA22-7F0C-9D6578D375C2}"/>
              </a:ext>
            </a:extLst>
          </p:cNvPr>
          <p:cNvSpPr txBox="1"/>
          <p:nvPr/>
        </p:nvSpPr>
        <p:spPr>
          <a:xfrm>
            <a:off x="1102321" y="5166443"/>
            <a:ext cx="81696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AICTE Student Id   -   </a:t>
            </a:r>
            <a:r>
              <a:rPr lang="en-IN" sz="2400" dirty="0"/>
              <a:t>STU6a69e81ac4abc1785325594</a:t>
            </a:r>
            <a:r>
              <a:rPr lang="en-US" sz="2400" dirty="0"/>
              <a:t> 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3A0A5A-FF96-27DA-364E-4EAB0774280A}"/>
              </a:ext>
            </a:extLst>
          </p:cNvPr>
          <p:cNvSpPr txBox="1"/>
          <p:nvPr/>
        </p:nvSpPr>
        <p:spPr>
          <a:xfrm>
            <a:off x="1102320" y="5708286"/>
            <a:ext cx="721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         College         -   </a:t>
            </a:r>
            <a:r>
              <a:rPr lang="en-IN" sz="2400" dirty="0"/>
              <a:t>Pondicherry University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5BD84F-0DFA-4A4D-295F-70E40EDBE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582" y="3632673"/>
            <a:ext cx="990066" cy="10266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C857749-F58A-3F8D-8A55-F828D9E18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91407"/>
            <a:ext cx="10515600" cy="132556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76DA67-EF7F-B117-3C04-C463F8B08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4674"/>
            <a:ext cx="10515600" cy="552297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Problem Statement No. 19 — Course Content Simplification Agent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The Challenge 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Educational materials often contain </a:t>
            </a:r>
            <a:r>
              <a:rPr lang="en-IN" b="1" dirty="0"/>
              <a:t>complex language and technical terminology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Students have </a:t>
            </a:r>
            <a:r>
              <a:rPr lang="en-IN" b="1" dirty="0"/>
              <a:t>different levels of prior knowledge and learning ability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Difficult explanations can make important academic concepts </a:t>
            </a:r>
            <a:r>
              <a:rPr lang="en-IN" b="1" dirty="0"/>
              <a:t>hard to understand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Traditional content is often presented at a </a:t>
            </a:r>
            <a:r>
              <a:rPr lang="en-IN" b="1" dirty="0"/>
              <a:t>single difficulty level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Learners may need the same concept explained in </a:t>
            </a:r>
            <a:r>
              <a:rPr lang="en-IN" b="1" dirty="0"/>
              <a:t>different ways and levels of detail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There is a need for an AI system that can </a:t>
            </a:r>
            <a:r>
              <a:rPr lang="en-IN" b="1" dirty="0" err="1"/>
              <a:t>analyze</a:t>
            </a:r>
            <a:r>
              <a:rPr lang="en-IN" b="1" dirty="0"/>
              <a:t> and simplify academic content intelligently</a:t>
            </a:r>
            <a:r>
              <a:rPr lang="en-IN" dirty="0"/>
              <a:t>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dirty="0"/>
              <a:t>The solution should support learning by adapting explanations from </a:t>
            </a:r>
            <a:r>
              <a:rPr lang="en-IN" b="1" dirty="0"/>
              <a:t>beginner to expert level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8C0D704-C66A-0E7E-AB15-22251EC1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4244-2E86-D8D7-89D3-3F0554F0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0"/>
            <a:ext cx="10515600" cy="1325563"/>
          </a:xfrm>
        </p:spPr>
        <p:txBody>
          <a:bodyPr/>
          <a:lstStyle/>
          <a:p>
            <a:r>
              <a:rPr lang="en-IN" dirty="0"/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F0540-D36E-76FF-A5E0-AAB0FDFF9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744" y="1261555"/>
            <a:ext cx="10954512" cy="5468778"/>
          </a:xfrm>
        </p:spPr>
        <p:txBody>
          <a:bodyPr>
            <a:normAutofit fontScale="92500" lnSpcReduction="10000"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Analyse Academic Content</a:t>
            </a:r>
            <a:r>
              <a:rPr lang="en-IN" dirty="0"/>
              <a:t> – Process complex notes, paragraphs and study material.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Simplify Complex Concepts</a:t>
            </a:r>
            <a:r>
              <a:rPr lang="en-IN" dirty="0"/>
              <a:t> – Convert difficult content into clear and understandable explanations.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Adapt to Learner Level</a:t>
            </a:r>
            <a:r>
              <a:rPr lang="en-IN" dirty="0"/>
              <a:t> – Generate content suitable for beginner, intermediate and expert learners.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Preserve Core Meaning</a:t>
            </a:r>
            <a:r>
              <a:rPr lang="en-IN" dirty="0"/>
              <a:t> – Simplify language without losing important technical information.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Improve Learning Accessibility</a:t>
            </a:r>
            <a:r>
              <a:rPr lang="en-IN" dirty="0"/>
              <a:t> – Make academic content easier to understand for diverse learners.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Support Personalized Learning</a:t>
            </a:r>
            <a:r>
              <a:rPr lang="en-IN" dirty="0"/>
              <a:t> – Provide explanations according to the learner's knowledge level.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Enhance Study Efficiency</a:t>
            </a:r>
            <a:r>
              <a:rPr lang="en-IN" dirty="0"/>
              <a:t> – Help students understand important concepts faster and more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44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97F35B0-DF50-684F-6FC7-14961E69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6745-9503-3782-8348-F94F8825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127982"/>
            <a:ext cx="10515600" cy="1225329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45846-2BE4-B039-A425-60C182A5D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3311"/>
            <a:ext cx="11131296" cy="4919473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Content Understanding</a:t>
            </a:r>
            <a:r>
              <a:rPr lang="en-IN" dirty="0"/>
              <a:t> – Analyse academic material and identify the key concepts.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Content Simplification</a:t>
            </a:r>
            <a:r>
              <a:rPr lang="en-IN" dirty="0"/>
              <a:t> – Transform complex explanations into simpler and clearer language.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Level-Based Learning</a:t>
            </a:r>
            <a:r>
              <a:rPr lang="en-IN" dirty="0"/>
              <a:t> – Generate beginner, intermediate and expert-level explanations.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Meaning Preservation</a:t>
            </a:r>
            <a:r>
              <a:rPr lang="en-IN" dirty="0"/>
              <a:t> – Maintain the original concept while reducing unnecessary complexity.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Personalized Education</a:t>
            </a:r>
            <a:r>
              <a:rPr lang="en-IN" dirty="0"/>
              <a:t> – Adapt explanations to different learner requirements.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AI-Powered Assistance</a:t>
            </a:r>
            <a:r>
              <a:rPr lang="en-IN" dirty="0"/>
              <a:t> – Use IBM Granite to generate intelligent and context-aware responses.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Learning Support</a:t>
            </a:r>
            <a:r>
              <a:rPr lang="en-IN" dirty="0"/>
              <a:t> – Improve accessibility, comprehension and independent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91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C1B3462-8FCF-B614-F4A2-DAEACE19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CB9B-80C7-7484-9E81-EFCC5B9C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54864"/>
            <a:ext cx="10515600" cy="1325563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480E-2C6E-A853-1576-6595DACBC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656" y="1325563"/>
            <a:ext cx="10838688" cy="504844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Proposed Solution: AI-Powered Course Content Simplification Agent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Intelligent Content Processing</a:t>
            </a:r>
            <a:r>
              <a:rPr lang="en-IN" dirty="0"/>
              <a:t> – Accepts academic content as user input.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IBM Granite Intelligence</a:t>
            </a:r>
            <a:r>
              <a:rPr lang="en-IN" dirty="0"/>
              <a:t> – Uses Granite for natural-language understanding and content generation.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Learner-Level Adaptation</a:t>
            </a:r>
            <a:r>
              <a:rPr lang="en-IN" dirty="0"/>
              <a:t> – Produces explanations based on beginner, intermediate or expert level.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Concept Extraction</a:t>
            </a:r>
            <a:r>
              <a:rPr lang="en-IN" dirty="0"/>
              <a:t> – Identifies the main ideas and important technical terms.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Simplified Explanation</a:t>
            </a:r>
            <a:r>
              <a:rPr lang="en-IN" dirty="0"/>
              <a:t> – Rewrites complex academic content into clear language.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Structured Learning Output</a:t>
            </a:r>
            <a:r>
              <a:rPr lang="en-IN" dirty="0"/>
              <a:t> – Can provide explanations, key points, examples and summaries.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b="1" dirty="0"/>
              <a:t>IBM Bob Orchestration</a:t>
            </a:r>
            <a:r>
              <a:rPr lang="en-IN" dirty="0"/>
              <a:t> – IBM Bob is used to develop and organize the agent workflow.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62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A93D275-8A02-D6D7-614E-09CF1799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E7FB-2497-F4F3-F1FA-EDA508EB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-36576"/>
            <a:ext cx="10515600" cy="1325563"/>
          </a:xfrm>
        </p:spPr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C4964-CFBC-E9AF-8719-D5CBB75C2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322" y="1233806"/>
            <a:ext cx="10087356" cy="5084064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IBM Bob Platform</a:t>
            </a:r>
            <a:r>
              <a:rPr lang="en-IN" dirty="0"/>
              <a:t> – Used for developing the application, integrating the AI workflow, refining code, and testing the solution.</a:t>
            </a:r>
          </a:p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IBM Granite-4.0-H-Small</a:t>
            </a:r>
            <a:r>
              <a:rPr lang="en-IN" dirty="0"/>
              <a:t> – Used for natural language understanding, reasoning, academic content simplification, and generating learner-level explanations.</a:t>
            </a:r>
          </a:p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IBM Cloud</a:t>
            </a:r>
            <a:r>
              <a:rPr lang="en-IN" dirty="0"/>
              <a:t> – Provides the cloud infrastructure and services required to connect, run, and deploy the AI application.</a:t>
            </a:r>
          </a:p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IBM Cloud IAM</a:t>
            </a:r>
            <a:r>
              <a:rPr lang="en-IN" dirty="0"/>
              <a:t> – Used for secure authentication and access-token generation for IBM AI service integration.</a:t>
            </a:r>
          </a:p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IBM watsonx.ai</a:t>
            </a:r>
            <a:r>
              <a:rPr lang="en-IN" dirty="0"/>
              <a:t> – Used to access and run the IBM Granite model for AI-powered academic content processing and generation.</a:t>
            </a:r>
          </a:p>
          <a:p>
            <a:pPr marL="114300" indent="0">
              <a:buNone/>
            </a:pPr>
            <a:r>
              <a:rPr lang="en-IN" dirty="0"/>
              <a:t>• </a:t>
            </a:r>
            <a:r>
              <a:rPr lang="en-IN" b="1" dirty="0"/>
              <a:t>Python / Flask</a:t>
            </a:r>
            <a:r>
              <a:rPr lang="en-IN" dirty="0"/>
              <a:t> – Used to develop the backend, handle user requests, connect with IBM services, and return the generated learning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39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A3130C3-A2EC-F5C2-6FFA-E8A4F586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B43085-058E-22A8-E2A7-F40FD1A3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03" y="-77934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Files created using IBM </a:t>
            </a:r>
            <a:r>
              <a:rPr lang="en-US" sz="3200" b="1" dirty="0" err="1">
                <a:sym typeface="Times New Roman"/>
              </a:rPr>
              <a:t>BoB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C1FA7-0B91-101B-0919-81F9837F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217"/>
          <a:stretch>
            <a:fillRect/>
          </a:stretch>
        </p:blipFill>
        <p:spPr>
          <a:xfrm>
            <a:off x="777240" y="1083433"/>
            <a:ext cx="2347082" cy="5724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DD9F2-D5CC-FE06-878C-E0A6187289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99" t="3518" r="11614" b="10053"/>
          <a:stretch>
            <a:fillRect/>
          </a:stretch>
        </p:blipFill>
        <p:spPr>
          <a:xfrm>
            <a:off x="3474720" y="1130012"/>
            <a:ext cx="7788174" cy="55499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2D43D2-98BB-C83B-EBBF-ACE7931DD905}"/>
              </a:ext>
            </a:extLst>
          </p:cNvPr>
          <p:cNvSpPr/>
          <p:nvPr/>
        </p:nvSpPr>
        <p:spPr>
          <a:xfrm>
            <a:off x="4342686" y="1130012"/>
            <a:ext cx="6920208" cy="333028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65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D2DDF8-BD47-4824-5C41-55686A7B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91133F-5739-0650-03BB-943C6508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23" y="-137160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240C93-71C5-FA34-2CCA-262CB1680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76" y="932688"/>
            <a:ext cx="10148247" cy="570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4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FD67F9E-F642-353B-5B59-8841B4337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A3F3B-FA8C-01EE-F073-EB51484F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1" y="-100583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55BA32-177D-B758-C47F-A0262EF84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81" y="905257"/>
            <a:ext cx="10248767" cy="579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44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567E6D8-7043-8A6E-0B45-19BBA2E8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5CAD5-2946-2911-96BB-EB088D4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1" y="-100583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5717C-A3A7-2B63-BF01-DB5008AAC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916289"/>
            <a:ext cx="10344913" cy="572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73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99FCE3-858F-C3CE-D288-ABFA1048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4FE1C8-B2A5-05C1-77E8-CE6DF404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1" y="-100583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94F96-B28B-D94C-D6A9-E3F77B637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20" y="843111"/>
            <a:ext cx="10269160" cy="577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DE89F50-E49C-4FED-68E3-E7F96C73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6873D8-5148-59AA-B1BD-D9B3CA4C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1" y="-100583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6E32F-B0F0-AFCB-E51D-BC06AAE4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513" y="956814"/>
            <a:ext cx="9139718" cy="58155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DA0A34-8DF4-B0C7-7759-04D4A7C8C28B}"/>
              </a:ext>
            </a:extLst>
          </p:cNvPr>
          <p:cNvSpPr/>
          <p:nvPr/>
        </p:nvSpPr>
        <p:spPr>
          <a:xfrm>
            <a:off x="2377440" y="4280169"/>
            <a:ext cx="5614416" cy="389108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9FE31-C17E-E16F-108F-89FD6E9FA4C6}"/>
              </a:ext>
            </a:extLst>
          </p:cNvPr>
          <p:cNvSpPr/>
          <p:nvPr/>
        </p:nvSpPr>
        <p:spPr>
          <a:xfrm>
            <a:off x="3483151" y="3733182"/>
            <a:ext cx="5116100" cy="389108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2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197BE9-2191-C9BC-7C50-A980A4B2B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2CD969-BAA2-F7C3-69F5-62997493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IBM Bob Screenshots 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B318B-3D55-4339-35D3-909488DF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984" y="1024128"/>
            <a:ext cx="2855976" cy="567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1B3221-F117-E29E-A4A5-7EC88296E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228" y="1344169"/>
            <a:ext cx="2710244" cy="5330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774771-7519-2F6F-5203-804BF4599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520" y="877823"/>
            <a:ext cx="2787692" cy="58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39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15D4987-79A4-082C-4988-7497B2FD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AEA556-BC8B-9F95-47BF-1E2A4147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31" y="173737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/>
              <a:t>Architecture blueprint for IBM bob:</a:t>
            </a:r>
            <a:br>
              <a:rPr lang="en-US" sz="3200" dirty="0"/>
            </a:b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995C5-4AAA-A893-A073-85980E9C6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31401" y="-2152497"/>
            <a:ext cx="5340095" cy="1171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F7D228-6438-E834-748F-4A3C0FC8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99EA-7EB3-B3D7-7767-94AB8E05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346837"/>
            <a:ext cx="10515600" cy="9333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Role of Agentic AI in the Solution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Google Shape;196;p9">
            <a:extLst>
              <a:ext uri="{FF2B5EF4-FFF2-40B4-BE49-F238E27FC236}">
                <a16:creationId xmlns:a16="http://schemas.microsoft.com/office/drawing/2014/main" id="{81C1B7F1-C71F-6BDC-0623-A63E5F6BA0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6617" y="1682496"/>
            <a:ext cx="3015343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E8932E-3521-B32D-D4CD-38F868FE1D42}"/>
              </a:ext>
            </a:extLst>
          </p:cNvPr>
          <p:cNvSpPr txBox="1"/>
          <p:nvPr/>
        </p:nvSpPr>
        <p:spPr>
          <a:xfrm>
            <a:off x="838200" y="1124712"/>
            <a:ext cx="736396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IBM Granite – AI Engine:</a:t>
            </a:r>
            <a:r>
              <a:rPr lang="en-IN" sz="2000" dirty="0"/>
              <a:t> Analyses academic content and generates simplified, level-based explanations.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Learner-Level Adaptation:</a:t>
            </a:r>
            <a:r>
              <a:rPr lang="en-IN" sz="2000" dirty="0"/>
              <a:t> Adjusts language, technical depth and explanation style for Beginner, Intermediate and Expert users.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Content Understanding:</a:t>
            </a:r>
            <a:r>
              <a:rPr lang="en-IN" sz="2000" dirty="0"/>
              <a:t> Identifies key concepts, important terms and the main meaning of the provided academic content.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Structured Generation:</a:t>
            </a:r>
            <a:r>
              <a:rPr lang="en-IN" sz="2000" dirty="0"/>
              <a:t> Produces explanations, key concepts, examples and summaries in a clear format.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IBM Cloud Services:</a:t>
            </a:r>
            <a:r>
              <a:rPr lang="en-IN" sz="2000" dirty="0"/>
              <a:t> Provides secure authentication, AI model access and cloud infrastructure for Granite integration.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IBM Bob – Development Support:</a:t>
            </a:r>
            <a:r>
              <a:rPr lang="en-IN" sz="2000" dirty="0"/>
              <a:t> Assists in building the frontend, backend, prompts, Granite integration and application workflow.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End-to-End AI Workflow:</a:t>
            </a:r>
            <a:r>
              <a:rPr lang="en-IN" sz="2000" dirty="0"/>
              <a:t> Combines IBM Bob, IBM Cloud and IBM Granite to transform complex academic content into personalized learning material.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5811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445720" y="33811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993988" y="1149855"/>
            <a:ext cx="53479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1,229 tokens are used in a single prompt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092864" y="1854925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5612740" y="1863578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62B08-6A51-C1E8-E73A-A8799C196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64" y="2454622"/>
            <a:ext cx="3490262" cy="38692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40E278-A4EE-FED3-8970-798918F22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33" y="2454622"/>
            <a:ext cx="3490262" cy="38816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780B9-AFB0-23CD-40A4-95C4AA510922}"/>
              </a:ext>
            </a:extLst>
          </p:cNvPr>
          <p:cNvSpPr txBox="1"/>
          <p:nvPr/>
        </p:nvSpPr>
        <p:spPr>
          <a:xfrm>
            <a:off x="9049731" y="1854925"/>
            <a:ext cx="31422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IBM BOB Token Usage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AF5ACE-34F5-65BE-EBEE-32F76D205E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99" t="4074" b="7639"/>
          <a:stretch>
            <a:fillRect/>
          </a:stretch>
        </p:blipFill>
        <p:spPr>
          <a:xfrm>
            <a:off x="9256995" y="2753780"/>
            <a:ext cx="2698134" cy="328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8AC354C-6F24-B18E-7A1E-C4A35550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385F68-8031-84A5-DA8E-F077A079A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B68B2-0555-B3FD-DD2E-D77DD2599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49" y="1344169"/>
            <a:ext cx="9134143" cy="519061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5801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E1A804-6EE0-D21D-0F28-6E933A17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A91BCB-BA6D-E448-9885-A6D6EA5E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0A19F-2472-4FAB-B70A-29E5A803E3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4" t="1675" r="1298" b="15039"/>
          <a:stretch>
            <a:fillRect/>
          </a:stretch>
        </p:blipFill>
        <p:spPr>
          <a:xfrm>
            <a:off x="2013203" y="1325879"/>
            <a:ext cx="8165593" cy="53766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475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F59CEC9-A006-E379-6D66-17EDB612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5FC34-2E05-4333-3051-AA5B84EAE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8ADEB-41A1-F690-DFBB-4094DBD3A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78" y="1344169"/>
            <a:ext cx="8169348" cy="49305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7238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A5471E8-8B99-1E31-4A3B-36D6CC51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C45E86-93EF-533A-85BB-D561CAEB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AF4AC8-A7E8-E07F-EAE1-9F8888DF8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45" y="1240311"/>
            <a:ext cx="8131245" cy="5182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C9AE42-A82F-D76E-0320-137817F95FA7}"/>
              </a:ext>
            </a:extLst>
          </p:cNvPr>
          <p:cNvSpPr/>
          <p:nvPr/>
        </p:nvSpPr>
        <p:spPr>
          <a:xfrm>
            <a:off x="2002536" y="2231136"/>
            <a:ext cx="7598664" cy="1508760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953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3B2BCD-D53A-1DE9-22BF-F7D24D15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ADDB02-5630-ADC8-6804-357A2D27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1" y="155449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209E8-35D7-E185-A160-A2FBC0C256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8" b="19999"/>
          <a:stretch>
            <a:fillRect/>
          </a:stretch>
        </p:blipFill>
        <p:spPr>
          <a:xfrm>
            <a:off x="2225777" y="1271017"/>
            <a:ext cx="7740445" cy="51669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3DFBB9-CACD-85F5-57FE-C5CBC5313CEB}"/>
              </a:ext>
            </a:extLst>
          </p:cNvPr>
          <p:cNvSpPr/>
          <p:nvPr/>
        </p:nvSpPr>
        <p:spPr>
          <a:xfrm>
            <a:off x="2633472" y="2944368"/>
            <a:ext cx="7068312" cy="2953512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45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79956C9-2C9D-E652-B741-05AABF2F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F8AA08-9AE6-49B2-0BA9-D563D4C91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23" y="0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4D905-E2CD-DF5E-A1A0-6714BBA7D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868" r="1593" b="16355"/>
          <a:stretch>
            <a:fillRect/>
          </a:stretch>
        </p:blipFill>
        <p:spPr>
          <a:xfrm>
            <a:off x="1874520" y="1060703"/>
            <a:ext cx="7872984" cy="55138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6E4E88-8691-EF4A-4EE9-C405EF47243C}"/>
              </a:ext>
            </a:extLst>
          </p:cNvPr>
          <p:cNvSpPr/>
          <p:nvPr/>
        </p:nvSpPr>
        <p:spPr>
          <a:xfrm>
            <a:off x="2048256" y="2341084"/>
            <a:ext cx="7580376" cy="3026444"/>
          </a:xfrm>
          <a:prstGeom prst="rect">
            <a:avLst/>
          </a:prstGeom>
          <a:noFill/>
          <a:ln w="539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032C22-55F7-F097-2AB9-610A1E82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EDA28B-90A9-755E-E087-9B969688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11" y="91441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/>
              <a:t>Novelty and Uniqueness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6ED5C-7A8A-154D-BDDD-536C04D200E4}"/>
              </a:ext>
            </a:extLst>
          </p:cNvPr>
          <p:cNvSpPr txBox="1"/>
          <p:nvPr/>
        </p:nvSpPr>
        <p:spPr>
          <a:xfrm>
            <a:off x="1044702" y="1280161"/>
            <a:ext cx="8501634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Adaptive Learning Intelligence</a:t>
            </a:r>
            <a:r>
              <a:rPr lang="en-IN" sz="1900" dirty="0"/>
              <a:t> – Converts the same academic content into Beginner, Intermediate and Expert explanations.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Learner-Centric Simplification</a:t>
            </a:r>
            <a:r>
              <a:rPr lang="en-IN" sz="1900" dirty="0"/>
              <a:t> – Adjusts vocabulary, technical depth and explanation style according to the learner’s proficiency.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IBM Granite-Powered Generation</a:t>
            </a:r>
            <a:r>
              <a:rPr lang="en-IN" sz="1900" dirty="0"/>
              <a:t> – Uses IBM Granite to understand academic content and generate context-aware, structured learning material.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IBM Cloud Integration</a:t>
            </a:r>
            <a:r>
              <a:rPr lang="en-IN" sz="1900" dirty="0"/>
              <a:t> – Uses IBM Cloud services for secure authentication, Granite model access and reliable cloud-based AI 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IBM Bob-Assisted Development</a:t>
            </a:r>
            <a:r>
              <a:rPr lang="en-IN" sz="1900" dirty="0"/>
              <a:t> – Uses IBM Bob to build, integrate, test and refine the application and its AI workflow.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Meaning-Preserving Transformation</a:t>
            </a:r>
            <a:r>
              <a:rPr lang="en-IN" sz="1900" dirty="0"/>
              <a:t> – Simplifies complex material while retaining essential concepts, terminology and academic meaning.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b="1" dirty="0"/>
              <a:t>Interactive Learning Experience</a:t>
            </a:r>
            <a:r>
              <a:rPr lang="en-IN" sz="1900" dirty="0"/>
              <a:t> – Allows users to regenerate content, switch learning levels and compare different explanations from the same source.</a:t>
            </a:r>
          </a:p>
        </p:txBody>
      </p:sp>
    </p:spTree>
    <p:extLst>
      <p:ext uri="{BB962C8B-B14F-4D97-AF65-F5344CB8AC3E}">
        <p14:creationId xmlns:p14="http://schemas.microsoft.com/office/powerpoint/2010/main" val="3778563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3B70565-1B4D-B450-773C-B4AD2503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0FD823-B9EE-E791-3E47-C9408E3E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87" y="512064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Future Scope </a:t>
            </a:r>
            <a:br>
              <a:rPr lang="en-US" sz="3200" b="1" dirty="0">
                <a:sym typeface="Times New Roman"/>
              </a:rPr>
            </a:b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AFD11-176E-8661-11E8-B7112BA110E5}"/>
              </a:ext>
            </a:extLst>
          </p:cNvPr>
          <p:cNvSpPr txBox="1"/>
          <p:nvPr/>
        </p:nvSpPr>
        <p:spPr>
          <a:xfrm>
            <a:off x="1225296" y="1554481"/>
            <a:ext cx="8860536" cy="454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Multilingual Learning</a:t>
            </a:r>
            <a:r>
              <a:rPr lang="en-IN" sz="2000" dirty="0"/>
              <a:t> – Extend the agent to simplify and explain academic content in regional and international languages.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PDF &amp; Document Support</a:t>
            </a:r>
            <a:r>
              <a:rPr lang="en-IN" sz="2000" dirty="0"/>
              <a:t> – Enable direct processing of textbooks, lecture notes, presentations and academic PDFs.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Voice-Based Learning</a:t>
            </a:r>
            <a:r>
              <a:rPr lang="en-IN" sz="2000" dirty="0"/>
              <a:t> – Add voice input and audio explanations for more accessible learning.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Personalized Learning Paths</a:t>
            </a:r>
            <a:r>
              <a:rPr lang="en-IN" sz="2000" dirty="0"/>
              <a:t> – Adapt explanations based on learner progress, preferences and previous interactions.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Quiz Generation</a:t>
            </a:r>
            <a:r>
              <a:rPr lang="en-IN" sz="2000" dirty="0"/>
              <a:t> – Automatically create quizzes, questions and practice exercises from simplified content.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AI Service Expansion</a:t>
            </a:r>
            <a:r>
              <a:rPr lang="en-IN" sz="2000" dirty="0"/>
              <a:t> – Integrate additional IBM Cloud and AI services to improve scalability, reliability and educational capabilities.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Smart Learning Analytics</a:t>
            </a:r>
            <a:r>
              <a:rPr lang="en-IN" sz="2000" dirty="0"/>
              <a:t> – </a:t>
            </a:r>
            <a:r>
              <a:rPr lang="en-IN" sz="2000" dirty="0" err="1"/>
              <a:t>Analyze</a:t>
            </a:r>
            <a:r>
              <a:rPr lang="en-IN" sz="2000" dirty="0"/>
              <a:t> learning interactions to identify difficult topics and provide targeted support.</a:t>
            </a:r>
          </a:p>
        </p:txBody>
      </p:sp>
    </p:spTree>
    <p:extLst>
      <p:ext uri="{BB962C8B-B14F-4D97-AF65-F5344CB8AC3E}">
        <p14:creationId xmlns:p14="http://schemas.microsoft.com/office/powerpoint/2010/main" val="4164339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0C23C1C-5745-9440-CBB3-BD0ED1D8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221EDD-EC68-2A01-5B98-FA6FBD22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658368"/>
            <a:ext cx="10515600" cy="1188720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Git Hub Link</a:t>
            </a:r>
            <a:br>
              <a:rPr lang="en-US" sz="3200" b="1" dirty="0">
                <a:sym typeface="Times New Roman"/>
              </a:rPr>
            </a:br>
            <a:r>
              <a:rPr lang="en-US" sz="3200" dirty="0"/>
              <a:t>	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A4CA8-9CE1-0FB2-432E-CA58FC03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410" y="4267608"/>
            <a:ext cx="3010161" cy="14707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B1453C-8A04-903E-F2F9-0FD1EAFE80E0}"/>
              </a:ext>
            </a:extLst>
          </p:cNvPr>
          <p:cNvSpPr txBox="1"/>
          <p:nvPr/>
        </p:nvSpPr>
        <p:spPr>
          <a:xfrm>
            <a:off x="609600" y="2289000"/>
            <a:ext cx="9339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GitHub Repository Link -  </a:t>
            </a:r>
            <a:r>
              <a:rPr lang="en-IN" sz="2400" dirty="0">
                <a:hlinkClick r:id="rId4"/>
              </a:rPr>
              <a:t>https://github.com/Rifacspu2004/IBM-bob---Course-Content-Simplifier-Project-.-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496E9-4B8D-915A-77FD-33E2779CA7BA}"/>
              </a:ext>
            </a:extLst>
          </p:cNvPr>
          <p:cNvSpPr txBox="1"/>
          <p:nvPr/>
        </p:nvSpPr>
        <p:spPr>
          <a:xfrm>
            <a:off x="8344791" y="3561909"/>
            <a:ext cx="3581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Repository File Structure 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A3E2D9-3149-B643-579F-068C110865B5}"/>
              </a:ext>
            </a:extLst>
          </p:cNvPr>
          <p:cNvSpPr txBox="1"/>
          <p:nvPr/>
        </p:nvSpPr>
        <p:spPr>
          <a:xfrm>
            <a:off x="5833872" y="6199632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Use ctrl + click for link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76959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8" y="213007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Certificates Earned:</a:t>
            </a:r>
          </a:p>
          <a:p>
            <a:pPr algn="ctr"/>
            <a:endParaRPr lang="en-US" sz="2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697379" y="802036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1457F-3AAC-BFDA-77F7-FF127D7B7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7"/>
          <a:stretch>
            <a:fillRect/>
          </a:stretch>
        </p:blipFill>
        <p:spPr>
          <a:xfrm>
            <a:off x="1663529" y="1435608"/>
            <a:ext cx="8864942" cy="52825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67CF-B257-2C48-75A3-4A74606B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341ABF-3EED-DE8E-9D47-1C07F8B114E3}"/>
              </a:ext>
            </a:extLst>
          </p:cNvPr>
          <p:cNvSpPr txBox="1"/>
          <p:nvPr/>
        </p:nvSpPr>
        <p:spPr>
          <a:xfrm>
            <a:off x="327948" y="213007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  <a:p>
            <a:pPr algn="ctr"/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65AF9-D19A-B32C-6FEB-023D4D4BAB98}"/>
              </a:ext>
            </a:extLst>
          </p:cNvPr>
          <p:cNvSpPr txBox="1"/>
          <p:nvPr/>
        </p:nvSpPr>
        <p:spPr>
          <a:xfrm>
            <a:off x="1072283" y="792892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2.  (IBM BOB Certificate)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4F0E0-90E7-CC10-61D4-61EBF5497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1463040"/>
            <a:ext cx="8234608" cy="509728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4280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1113</Words>
  <Application>Microsoft Office PowerPoint</Application>
  <PresentationFormat>Widescreen</PresentationFormat>
  <Paragraphs>116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PROBLEM STATEMENT</vt:lpstr>
      <vt:lpstr>PROJECT DESCRIPTION</vt:lpstr>
      <vt:lpstr>OBJECTIVES</vt:lpstr>
      <vt:lpstr>PROPOSED SOLUTION</vt:lpstr>
      <vt:lpstr>TECHNOLOGY USED</vt:lpstr>
      <vt:lpstr>Files created using IBM BoB</vt:lpstr>
      <vt:lpstr>IBM Bob Screenshots </vt:lpstr>
      <vt:lpstr>IBM Bob Screenshots </vt:lpstr>
      <vt:lpstr>IBM Bob Screenshots </vt:lpstr>
      <vt:lpstr>IBM Bob Screenshots </vt:lpstr>
      <vt:lpstr>IBM Bob Screenshots </vt:lpstr>
      <vt:lpstr>IBM Bob Screenshots </vt:lpstr>
      <vt:lpstr>Architecture blueprint for IBM bob: </vt:lpstr>
      <vt:lpstr>Role of Agentic AI in the Solution </vt:lpstr>
      <vt:lpstr>PowerPoint Presentation</vt:lpstr>
      <vt:lpstr>Project Output Screenshot</vt:lpstr>
      <vt:lpstr>Project Output Screenshot</vt:lpstr>
      <vt:lpstr>Project Output Screenshot</vt:lpstr>
      <vt:lpstr>Project Output Screenshot</vt:lpstr>
      <vt:lpstr>Project Output Screenshot</vt:lpstr>
      <vt:lpstr>Project Output Screenshot</vt:lpstr>
      <vt:lpstr>Novelty and Uniqueness</vt:lpstr>
      <vt:lpstr>Future Scope  </vt:lpstr>
      <vt:lpstr>Git Hub Link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Fazil Mohamed</cp:lastModifiedBy>
  <cp:revision>12</cp:revision>
  <dcterms:created xsi:type="dcterms:W3CDTF">2025-07-08T05:06:56Z</dcterms:created>
  <dcterms:modified xsi:type="dcterms:W3CDTF">2026-09-08T17:22:51Z</dcterms:modified>
</cp:coreProperties>
</file>